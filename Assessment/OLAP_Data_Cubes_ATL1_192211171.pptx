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7" d="100"/>
          <a:sy n="67" d="100"/>
        </p:scale>
        <p:origin x="-968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3297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2062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10928" y="42062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69296" y="420624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B4D8">
              <a:alpha val="4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486460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10928" y="486460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B4D8">
              <a:alpha val="4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69296" y="486460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0" y="552297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0B4D8">
              <a:alpha val="45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10928" y="552297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9296" y="5522976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 ·  DATA WAREHOUSING &amp; DATA MINING (CSA16)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15087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Cracking the Cube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OLAP Turns Raw Data into Business Decisions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look at the technology behind every business dashboard — from raw transactions to instant, multidimensional insight.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6" name="Image 0" descr="./icons/cu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010912"/>
            <a:ext cx="265176" cy="2651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25880" y="49377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as an interactive walkthrough of OLAP &amp; Multidimensional Data Cubes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By,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MANIBAALAKRISHNAN S - 192211171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 · Data Warehousing &amp; Data Mining  —  Unit I: OLAP &amp; Data Cubes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Databases Walk Into a Company…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system that runs your business can't explain your business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5C6B8A"/>
          </a:solidFill>
          <a:ln/>
        </p:spPr>
      </p:sp>
      <p:pic>
        <p:nvPicPr>
          <p:cNvPr id="6" name="Image 0" descr=".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488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— Running the Business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4434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speed: thousands of quick inserts, updates &amp; lookups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Detailed, current, row-by-row records of every transaction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processing an order — poor at spotting a 3-year trend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4663440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F0F2F8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475488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easily answer:
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region grew fastest over the last 3 years?”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1691640"/>
            <a:ext cx="5074920" cy="4114800"/>
          </a:xfrm>
          <a:prstGeom prst="roundRect">
            <a:avLst>
              <a:gd name="adj" fmla="val 2667"/>
            </a:avLst>
          </a:prstGeom>
          <a:solidFill>
            <a:srgbClr val="14213D"/>
          </a:solidFill>
          <a:ln/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01168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3" name="Image 1" descr="./icons/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488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205740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— Understanding the Business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446520" y="2788920"/>
            <a:ext cx="4434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insight: complex reads across millions of records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Aggregated, historical, and multidimensional by design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data cubes that answer strategic questions in seconds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46520" y="4663440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1E2E5C"/>
          </a:solidFill>
          <a:ln/>
        </p:spPr>
      </p:sp>
      <p:sp>
        <p:nvSpPr>
          <p:cNvPr id="17" name="Text 13"/>
          <p:cNvSpPr/>
          <p:nvPr/>
        </p:nvSpPr>
        <p:spPr>
          <a:xfrm>
            <a:off x="6629400" y="4754880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instantly:
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“South grew 34% while North fell 6% — since Q2 2024.”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 · Data Warehousing &amp; Data Mining  —  Unit I: OLAP &amp; Data Cubes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Cube, Every Angle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cube packs Product, Time &amp; Region into a single explorable structure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68680" y="2194560"/>
            <a:ext cx="2208276" cy="1419606"/>
          </a:xfrm>
          <a:prstGeom prst="roundRect">
            <a:avLst>
              <a:gd name="adj" fmla="val 7729"/>
            </a:avLst>
          </a:prstGeom>
          <a:solidFill>
            <a:srgbClr val="1E2E5C">
              <a:alpha val="92000"/>
            </a:srgbClr>
          </a:solidFill>
          <a:ln w="15875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5179" y="1959011"/>
            <a:ext cx="2208276" cy="1419606"/>
          </a:xfrm>
          <a:prstGeom prst="roundRect">
            <a:avLst>
              <a:gd name="adj" fmla="val 7729"/>
            </a:avLst>
          </a:prstGeom>
          <a:solidFill>
            <a:srgbClr val="00B4D8">
              <a:alpha val="88000"/>
            </a:srgbClr>
          </a:solidFill>
          <a:ln w="15875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41678" y="1723461"/>
            <a:ext cx="2208276" cy="1419606"/>
          </a:xfrm>
          <a:prstGeom prst="roundRect">
            <a:avLst>
              <a:gd name="adj" fmla="val 7729"/>
            </a:avLst>
          </a:prstGeom>
          <a:solidFill>
            <a:srgbClr val="FF6B35">
              <a:alpha val="90000"/>
            </a:srgbClr>
          </a:solidFill>
          <a:ln w="15875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5538" y="331428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78331" y="302674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60551" y="2764867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17320" y="416052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FF6B35"/>
          </a:solidFill>
          <a:ln w="1905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417320" y="416052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cell = 1 fact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178308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3" name="Image 0" descr="./icons/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901952"/>
            <a:ext cx="265176" cy="26517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29200" y="175564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29200" y="2075688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perspective for slicing the data — Product, Time, Region, or any business attribute you analyze by.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297680" y="283464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7" name="Image 1" descr="./icons/dol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6552" y="2953512"/>
            <a:ext cx="265176" cy="2651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029200" y="280720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029200" y="3127248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being analyzed — e.g. Sales Revenue, Units Sold, Profit Margin.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297680" y="3886200"/>
            <a:ext cx="502920" cy="50292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1" name="Image 2" descr="./icons/cu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4005072"/>
            <a:ext cx="265176" cy="2651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29200" y="385876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029200" y="4178808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exact intersection of every dimension — e.g. “Laptops, Q3, South = $42,000.”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297680" y="5074920"/>
            <a:ext cx="7315200" cy="822960"/>
          </a:xfrm>
          <a:prstGeom prst="roundRect">
            <a:avLst>
              <a:gd name="adj" fmla="val 11111"/>
            </a:avLst>
          </a:prstGeom>
          <a:solidFill>
            <a:srgbClr val="EFF3FB"/>
          </a:solidFill>
          <a:ln/>
        </p:spPr>
      </p:sp>
      <p:sp>
        <p:nvSpPr>
          <p:cNvPr id="25" name="Text 20"/>
          <p:cNvSpPr/>
          <p:nvPr/>
        </p:nvSpPr>
        <p:spPr>
          <a:xfrm>
            <a:off x="4526280" y="50749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warehouse itself: </a:t>
            </a: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cube is populated from a fact table (measures) linked to dimension tables — the star / snowflake schema from the warehouse architecture.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 · Data Warehousing &amp; Data Mining  —  Unit I: OLAP &amp; Data Cubes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Moves to Master the Cube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OLAP tool — Excel PivotTables, Power BI, or KNIME — runs on these five moves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32461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71016" y="1984248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6" name="Image 0" descr="./icons/c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13055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889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3200400"/>
            <a:ext cx="17556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one dimension to view a single 2D snapshot.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58368" y="4160520"/>
            <a:ext cx="1865376" cy="640080"/>
          </a:xfrm>
          <a:prstGeom prst="roundRect">
            <a:avLst>
              <a:gd name="adj" fmla="val 11429"/>
            </a:avLst>
          </a:prstGeom>
          <a:solidFill>
            <a:srgbClr val="F0F2F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416052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only Q3 sales.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834640" y="1691640"/>
            <a:ext cx="2084832" cy="32461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57016" y="1984248"/>
            <a:ext cx="640080" cy="640080"/>
          </a:xfrm>
          <a:prstGeom prst="ellipse">
            <a:avLst/>
          </a:prstGeom>
          <a:solidFill>
            <a:srgbClr val="1E2E5C"/>
          </a:solidFill>
          <a:ln/>
        </p:spPr>
      </p:sp>
      <p:pic>
        <p:nvPicPr>
          <p:cNvPr id="13" name="Image 1" descr="./icons/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13055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26080" y="27889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999232" y="3200400"/>
            <a:ext cx="17556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several dimensions at once for a sub-cube.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944368" y="4160520"/>
            <a:ext cx="1865376" cy="640080"/>
          </a:xfrm>
          <a:prstGeom prst="roundRect">
            <a:avLst>
              <a:gd name="adj" fmla="val 11429"/>
            </a:avLst>
          </a:prstGeom>
          <a:solidFill>
            <a:srgbClr val="F0F2F8"/>
          </a:solidFill>
          <a:ln/>
        </p:spPr>
      </p:sp>
      <p:sp>
        <p:nvSpPr>
          <p:cNvPr id="17" name="Text 13"/>
          <p:cNvSpPr/>
          <p:nvPr/>
        </p:nvSpPr>
        <p:spPr>
          <a:xfrm>
            <a:off x="3017520" y="416052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Laptops, South &amp; West, Q1–Q2.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120640" y="1691640"/>
            <a:ext cx="2084832" cy="32461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43016" y="1984248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0" name="Image 2" descr="./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130552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12080" y="27889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285232" y="3200400"/>
            <a:ext cx="17556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finer, more detailed granularity.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230368" y="4160520"/>
            <a:ext cx="1865376" cy="640080"/>
          </a:xfrm>
          <a:prstGeom prst="roundRect">
            <a:avLst>
              <a:gd name="adj" fmla="val 11429"/>
            </a:avLst>
          </a:prstGeom>
          <a:solidFill>
            <a:srgbClr val="F0F2F8"/>
          </a:solidFill>
          <a:ln/>
        </p:spPr>
      </p:sp>
      <p:sp>
        <p:nvSpPr>
          <p:cNvPr id="24" name="Text 19"/>
          <p:cNvSpPr/>
          <p:nvPr/>
        </p:nvSpPr>
        <p:spPr>
          <a:xfrm>
            <a:off x="5303520" y="416052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→ Quarter → Month.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7406640" y="1691640"/>
            <a:ext cx="2084832" cy="32461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129016" y="1984248"/>
            <a:ext cx="640080" cy="640080"/>
          </a:xfrm>
          <a:prstGeom prst="ellipse">
            <a:avLst/>
          </a:prstGeom>
          <a:solidFill>
            <a:srgbClr val="5C6B8A"/>
          </a:solidFill>
          <a:ln/>
        </p:spPr>
      </p:sp>
      <p:pic>
        <p:nvPicPr>
          <p:cNvPr id="27" name="Image 3" descr="./icons/compr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2130552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98080" y="27889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7571232" y="3200400"/>
            <a:ext cx="17556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the hierarchy to a broader summary.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516368" y="4160520"/>
            <a:ext cx="1865376" cy="640080"/>
          </a:xfrm>
          <a:prstGeom prst="roundRect">
            <a:avLst>
              <a:gd name="adj" fmla="val 11429"/>
            </a:avLst>
          </a:prstGeom>
          <a:solidFill>
            <a:srgbClr val="F0F2F8"/>
          </a:solidFill>
          <a:ln/>
        </p:spPr>
      </p:sp>
      <p:sp>
        <p:nvSpPr>
          <p:cNvPr id="31" name="Text 25"/>
          <p:cNvSpPr/>
          <p:nvPr/>
        </p:nvSpPr>
        <p:spPr>
          <a:xfrm>
            <a:off x="7589520" y="416052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→ Country totals.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9692640" y="1691640"/>
            <a:ext cx="2084832" cy="32461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415016" y="1984248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34" name="Image 4" descr="./icons/sy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1320" y="2130552"/>
            <a:ext cx="347472" cy="34747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784080" y="27889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lang="en-US" sz="1600" dirty="0"/>
          </a:p>
        </p:txBody>
      </p:sp>
      <p:sp>
        <p:nvSpPr>
          <p:cNvPr id="36" name="Text 29"/>
          <p:cNvSpPr/>
          <p:nvPr/>
        </p:nvSpPr>
        <p:spPr>
          <a:xfrm>
            <a:off x="9857232" y="3200400"/>
            <a:ext cx="17556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the cube for a fresh perspective.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9802368" y="4160520"/>
            <a:ext cx="1865376" cy="640080"/>
          </a:xfrm>
          <a:prstGeom prst="roundRect">
            <a:avLst>
              <a:gd name="adj" fmla="val 11429"/>
            </a:avLst>
          </a:prstGeom>
          <a:solidFill>
            <a:srgbClr val="F0F2F8"/>
          </a:solidFill>
          <a:ln/>
        </p:spPr>
      </p:sp>
      <p:sp>
        <p:nvSpPr>
          <p:cNvPr id="38" name="Text 31"/>
          <p:cNvSpPr/>
          <p:nvPr/>
        </p:nvSpPr>
        <p:spPr>
          <a:xfrm>
            <a:off x="9875520" y="416052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rows and columns.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 · Data Warehousing &amp; Data Mining  —  Unit I: OLAP &amp; Data Cubes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Work: A Retail Sales Cube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Dimensions: Product × Region × Time   |   Measure: Revenue ($)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23160" cy="3566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299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458468" y="2359152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7" name="Image 0" descr="./icons/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49631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154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Cube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9808" y="3703320"/>
            <a:ext cx="202082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product, every region, every quarter loaded at once.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990088" y="3291840"/>
            <a:ext cx="283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291840" y="1828800"/>
            <a:ext cx="2423160" cy="3566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91840" y="20299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01668" y="2359152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14" name="Image 1" descr="./icons/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828" y="249631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3154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= South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493008" y="3703320"/>
            <a:ext cx="202082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one dimension to isolate South's performance.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733288" y="3291840"/>
            <a:ext cx="283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6035040" y="1828800"/>
            <a:ext cx="2423160" cy="3566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035040" y="20299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944868" y="2359152"/>
            <a:ext cx="603504" cy="603504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1" name="Image 2" descr="./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028" y="2496312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26480" y="3154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→ Month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236208" y="3703320"/>
            <a:ext cx="202082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from quarterly totals into monthly detail.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476488" y="3291840"/>
            <a:ext cx="2834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5" name="Shape 20"/>
          <p:cNvSpPr/>
          <p:nvPr/>
        </p:nvSpPr>
        <p:spPr>
          <a:xfrm>
            <a:off x="8778240" y="1828800"/>
            <a:ext cx="2423160" cy="3566160"/>
          </a:xfrm>
          <a:prstGeom prst="roundRect">
            <a:avLst>
              <a:gd name="adj" fmla="val 4528"/>
            </a:avLst>
          </a:prstGeom>
          <a:solidFill>
            <a:srgbClr val="14213D"/>
          </a:solidFill>
          <a:ln w="12700">
            <a:solidFill>
              <a:srgbClr val="000000"/>
            </a:solidFill>
            <a:prstDash val="solid"/>
          </a:ln>
          <a:effectLst>
            <a:outerShdw blurRad="1270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8778240" y="20299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9688068" y="2359152"/>
            <a:ext cx="603504" cy="603504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28" name="Image 3" descr="./icons/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5228" y="2496312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869680" y="31546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Found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8979408" y="3703320"/>
            <a:ext cx="202082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8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South's January spike traces to a laptop promotion.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 · Data Warehousing &amp; Data Mining  —  Unit I: OLAP &amp; Data Cubes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Cube to Career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AFC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one concept quietly powers modern analytics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5" name="Image 0" descr="./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4140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26771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real BI tools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508760" y="263347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PivotTables, Power BI, Tableau, and the KNIME reporting workflow all execute slice, dice, drill &amp; pivot behind the scenes.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3337560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9" name="Image 1" descr=".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346557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31927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rest of the course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508760" y="368503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cleaned, cubed data you explore here becomes the input for classification, clustering, and mining in later units.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85800" y="4389120"/>
            <a:ext cx="566928" cy="566928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3" name="Image 2" descr="./icons/briefc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451713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37083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workplace skill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508760" y="4736592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3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you build me a report by region and quarter?” is an OLAP question — asked in almost every analytics role.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57784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1E2E5C"/>
          </a:solidFill>
          <a:ln/>
        </p:spPr>
      </p:sp>
      <p:sp>
        <p:nvSpPr>
          <p:cNvPr id="17" name="Text 12"/>
          <p:cNvSpPr/>
          <p:nvPr/>
        </p:nvSpPr>
        <p:spPr>
          <a:xfrm>
            <a:off x="914400" y="55778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 cube, and every dashboard becomes a conversation with your data.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4864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CSA16 · Data Warehousing &amp; Data Mining  —  Unit I: OLAP &amp; Data Cubes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697</Words>
  <Application>Microsoft Office PowerPoint</Application>
  <PresentationFormat>Custom</PresentationFormat>
  <Paragraphs>95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PSYDEM ETZ</cp:lastModifiedBy>
  <cp:revision>3</cp:revision>
  <dcterms:created xsi:type="dcterms:W3CDTF">2026-07-19T12:34:56Z</dcterms:created>
  <dcterms:modified xsi:type="dcterms:W3CDTF">2026-07-19T12:42:35Z</dcterms:modified>
</cp:coreProperties>
</file>